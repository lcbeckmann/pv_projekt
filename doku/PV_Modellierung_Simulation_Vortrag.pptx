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429768"/>
            <a:ext cx="3154680" cy="79552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466344"/>
            <a:ext cx="749808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7592" y="2578608"/>
            <a:ext cx="9692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070A6"/>
                </a:solidFill>
                <a:latin typeface="Arial"/>
              </a:defRPr>
            </a:pPr>
            <a:r>
              <a:t>Modellierung und Simulation</a:t>
            </a:r>
            <a:br/>
            <a:r>
              <a:t> eines Photovoltaikmoduls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7592" y="3456432"/>
            <a:ext cx="9692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70A6"/>
                </a:solidFill>
                <a:latin typeface="Arial"/>
              </a:defRPr>
            </a:pPr>
            <a:r>
              <a:t>Simulation in MATLAB · Kontinuierliche Simulation VU 325.118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406908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Gruppe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440740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0070A6"/>
                </a:solidFill>
                <a:latin typeface="Arial"/>
              </a:defRPr>
            </a:pPr>
            <a:r>
              <a:t>Linus Rieder · Tom Reutlinger · Matyas Belak · Lars Beckmann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Aufgabenstellung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Thermisches Modell des PV-Moduls aus Globalstrahlung, Umgebungstemperatur und Wind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Modultemperatur und elektrische Leistung zeitabhängig bestimmen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Modellparameter aus Literatur herleiten und Annahmen dokumentieren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Numerische Umsetzung in MATLAB und Validierung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Anwendung auf Messdaten der GeoSphere Austria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Sensitivitätsanalyse sowie unabhängige Umsetzung in Simulink mit Batteriemodell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Warum ein thermisches PV-Modell?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Arial"/>
              </a:defRPr>
            </a:pPr>
            <a:r>
              <a:t>Die elektrische Leistung hängt nicht nur von der Einstrahlung 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Mit steigender Zelltemperatur sinkt der Wirkungsgrad.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Gerade bei hoher Einstrahlung entstehen dadurch relevante Ertragsverluste.</a:t>
            </a:r>
          </a:p>
          <a:p>
            <a:pPr>
              <a:spcAft>
                <a:spcPts val="5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Gesucht ist daher die Modultemperatur Tₘ als dynamische Zustandsgröße.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18288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7848" y="1527048"/>
            <a:ext cx="16093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Tₘ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99339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gesuchte Zustandsgröße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8288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9528" y="1527048"/>
            <a:ext cx="16093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Wₑₗ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9528" y="199339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elektrische Leistung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63240"/>
            <a:ext cx="35204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3136392"/>
            <a:ext cx="3374136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G · Tₐₘᵦ · 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74352" y="3840480"/>
            <a:ext cx="0" cy="566928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9560" y="4407408"/>
            <a:ext cx="352044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4480560"/>
            <a:ext cx="3374136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Thermisches Modell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74352" y="5184648"/>
            <a:ext cx="0" cy="466344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9560" y="5532120"/>
            <a:ext cx="35204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5605272"/>
            <a:ext cx="3374136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Tₘ  →  Wₑₗ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21" name="Picture 2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Methodik: Das Einknoten-Modell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rial"/>
              </a:defRPr>
            </a:pPr>
            <a:r>
              <a:t>Systemgrenze: Schichtverbund aus Frontglas, EVA, Zellen und Rückseitenfolie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01952"/>
            <a:ext cx="191109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Globalstrahlung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7180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3044952"/>
            <a:ext cx="191109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Umgebung Tₐₘᵦ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4187952"/>
            <a:ext cx="191109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Wind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331720"/>
            <a:ext cx="2560320" cy="155448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404872"/>
            <a:ext cx="2414015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PV-Modul</a:t>
            </a:r>
            <a:br/>
            <a:r>
              <a:t>Tₘ , Cₘ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157984"/>
            <a:ext cx="2103120" cy="585216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51760" y="3108960"/>
            <a:ext cx="2103120" cy="192024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651760" y="3474720"/>
            <a:ext cx="2103120" cy="969264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58200" y="150876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581912"/>
            <a:ext cx="1911095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Qₛₒₗₐᵣ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33172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404872"/>
            <a:ext cx="1911095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Qₖₒₙᵥ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15468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227832"/>
            <a:ext cx="1911095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Qᵣₐd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977639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4050791"/>
            <a:ext cx="1911095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Wₑₗ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360920" y="1810512"/>
            <a:ext cx="1051560" cy="1252728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360920" y="2633472"/>
            <a:ext cx="1051560" cy="429768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3063240"/>
            <a:ext cx="1051560" cy="393192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60920" y="3063240"/>
            <a:ext cx="1051560" cy="1216152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00600" y="4160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0A6"/>
                </a:solidFill>
                <a:latin typeface="Arial"/>
              </a:defRPr>
            </a:pPr>
            <a:r>
              <a:t>ein Zustand: Tₘ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30" name="Picture 2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Energiebilanz: der Kern des Modells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0070A6"/>
                </a:solidFill>
                <a:latin typeface="Arial"/>
              </a:defRPr>
            </a:pPr>
            <a:r>
              <a:t>Cₘ · dTₘ/dt  =  Qₛₒₗₐᵣ  −  Wₑₗ  −  Qₖₒₙᵥ  −  Qᵣₐd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919"/>
                </a:solidFill>
                <a:latin typeface="Arial"/>
              </a:defRPr>
            </a:pPr>
            <a:r>
              <a:t>Vier physikalische Beiträge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5623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Qsolar: absorbierte Einstrahlung – einziger Quellterm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Wel: elektrische Leistung im Maximalleistungspunkt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Qkonv: Wärmeübergang an Vorder- und Rückseite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Qrad: langwellige Abstrahlung gegen Himmel und Boden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606040"/>
            <a:ext cx="1965960" cy="96012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2679192"/>
            <a:ext cx="1819656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Speicherung</a:t>
            </a:r>
            <a:br/>
            <a:r>
              <a:t>Cₘ dTₘ/dt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828800"/>
            <a:ext cx="1600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11512" y="1901952"/>
            <a:ext cx="1453896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Qsolar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697480"/>
            <a:ext cx="1600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1512" y="2770632"/>
            <a:ext cx="1453896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− Wel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3566160"/>
            <a:ext cx="1600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1512" y="3639312"/>
            <a:ext cx="1453896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− Qkonv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4434840"/>
            <a:ext cx="1600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1512" y="4507992"/>
            <a:ext cx="1453896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− Qrad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5349240"/>
            <a:ext cx="4206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Arial"/>
              </a:defRPr>
            </a:pPr>
            <a:r>
              <a:t>Nur Tₘ wird integriert; die übrigen Größen werden algebraisch aus Zustand und Eingängen berechnet.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Die vier Teilmodelle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39496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72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70A6"/>
                </a:solidFill>
                <a:latin typeface="Arial"/>
              </a:defRPr>
            </a:pPr>
            <a:r>
              <a:t>1  Einstrahlung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7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  <a:latin typeface="Arial"/>
              </a:defRPr>
            </a:pPr>
            <a:r>
              <a:t>Qsolar = α G A</a:t>
            </a:r>
            <a:br/>
            <a:r>
              <a:t>α = 0,90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9496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72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70A6"/>
                </a:solidFill>
                <a:latin typeface="Arial"/>
              </a:defRPr>
            </a:pPr>
            <a:r>
              <a:t>2  Elektrik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92807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  <a:latin typeface="Arial"/>
              </a:defRPr>
            </a:pPr>
            <a:r>
              <a:t>Wel = G A (τα) ηref</a:t>
            </a:r>
            <a:br/>
            <a:r>
              <a:t>· [1 − βref(Tₘ−Tref)]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539496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8386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70A6"/>
                </a:solidFill>
                <a:latin typeface="Arial"/>
              </a:defRPr>
            </a:pPr>
            <a:r>
              <a:t>3  Konvektion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04487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  <a:latin typeface="Arial"/>
              </a:defRPr>
            </a:pPr>
            <a:r>
              <a:t>Qkonv = h Aconv (Tₘ−Tₐₘᵦ)</a:t>
            </a:r>
            <a:br/>
            <a:r>
              <a:t>h = ha + hb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9496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48386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70A6"/>
                </a:solidFill>
                <a:latin typeface="Arial"/>
              </a:defRPr>
            </a:pPr>
            <a:r>
              <a:t>4  Strahlung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04487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  <a:latin typeface="Arial"/>
              </a:defRPr>
            </a:pPr>
            <a:r>
              <a:t>Qrad ∝ εσA(Tₘ⁴−Tsky⁴)</a:t>
            </a:r>
            <a:br/>
            <a:r>
              <a:t>Tsky nach Swinbank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Arial"/>
              </a:defRPr>
            </a:pPr>
            <a:r>
              <a:t>Wichtig: Die elektrische Leistung hängt von Tₘ ab → Rückkopplung in der Differentialgleichung.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8" name="Picture 1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Parameterwahl und Annahmen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919"/>
                </a:solidFill>
                <a:latin typeface="Arial"/>
              </a:defRPr>
            </a:pPr>
            <a:r>
              <a:t>Zentrale Modellparameter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7276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1,634 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03911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Modulfläche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57276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12,4 kJ/K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03911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Wärmekapazität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Cₘ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7276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0,127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03911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Referenzwirkungsgrad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36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ηref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8036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99008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0,0045 1/K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45643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Temperaturkoeffizient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βref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88036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99008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0,87 / 0,87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45643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Emissionsgrade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535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εf / εb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880360"/>
            <a:ext cx="34290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2990088"/>
            <a:ext cx="32095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5,7 + 3,8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3456432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McAdams-Korrelation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9535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46464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919"/>
                </a:solidFill>
                <a:latin typeface="Arial"/>
              </a:defRPr>
            </a:pPr>
            <a:r>
              <a:t>Bewusste Vereinfachungen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■  ein Temperaturknoten (Lumped)</a:t>
            </a:r>
          </a:p>
          <a:p>
            <a:pPr>
              <a:spcAft>
                <a:spcPts val="2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■  Bodentemperatur = Umgebungstemperatur</a:t>
            </a:r>
          </a:p>
          <a:p>
            <a:pPr>
              <a:spcAft>
                <a:spcPts val="2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■  Aconv = 2A → Vorder- und Rückseite frei umströmt</a:t>
            </a:r>
          </a:p>
          <a:p>
            <a:pPr>
              <a:spcAft>
                <a:spcPts val="2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■  konstantes (τα), keine Einfallswinkelabhängigkeit</a:t>
            </a:r>
          </a:p>
          <a:p>
            <a:pPr>
              <a:spcAft>
                <a:spcPts val="2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■  Validierungs-Eingangsdaten teilweise konstruiert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32" name="Picture 3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Numerische Umsetzung in MATLAB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331720" cy="658368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218541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init_parameters.m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1746504"/>
            <a:ext cx="868680" cy="0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03320" y="1417320"/>
            <a:ext cx="2423160" cy="658368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6472" y="1490472"/>
            <a:ext cx="22768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pv_thermal_ode.m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1746504"/>
            <a:ext cx="868680" cy="0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95160" y="1417320"/>
            <a:ext cx="1508760" cy="658368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149047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ode45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1746504"/>
            <a:ext cx="868680" cy="0"/>
          </a:xfrm>
          <a:prstGeom prst="line">
            <a:avLst/>
          </a:prstGeom>
          <a:ln w="25400">
            <a:solidFill>
              <a:srgbClr val="007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72600" y="1417320"/>
            <a:ext cx="1691640" cy="658368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00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2" y="1490472"/>
            <a:ext cx="154533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Tₘ(t)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919"/>
                </a:solidFill>
                <a:latin typeface="Arial"/>
              </a:defRPr>
            </a:pPr>
            <a:r>
              <a:t>Warum ode45?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System besitzt nur einen Zustand → nicht steif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Dormand–Prince-Verfahren mit adaptiver Schrittweite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gleiche Solvertoleranzen: RelTol = AbsTol = 10⁻⁶</a:t>
            </a:r>
          </a:p>
          <a:p>
            <a:pPr>
              <a:spcAft>
                <a:spcPts val="5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lineare Interpolation der Wetterdaten vermeidet Überschwingen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880360"/>
            <a:ext cx="43434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2990088"/>
            <a:ext cx="4123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0,0346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456432"/>
            <a:ext cx="4123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max. Änderung bei strengeren Toleranzen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206240"/>
            <a:ext cx="43434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4315968"/>
            <a:ext cx="4123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≈ 200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782312"/>
            <a:ext cx="4123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thermische Zeitkonstante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Arial"/>
              </a:defRPr>
            </a:pPr>
            <a:r>
              <a:t>Unabhängige Kontrolle: Energiebilanz über 168 h schließt bis auf 0,01 kWh.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25" name="Picture 2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Validierung: Wie gut trifft das Modell die Referenz?</a:t>
            </a:r>
          </a:p>
        </p:txBody>
      </p:sp>
      <p:pic>
        <p:nvPicPr>
          <p:cNvPr id="3" name="Picture 2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62940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43800" y="1417320"/>
            <a:ext cx="38862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53527" y="1527048"/>
            <a:ext cx="3666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8,9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53527" y="1993392"/>
            <a:ext cx="3666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MAE Tagesstunden – finale Bewertung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697480"/>
            <a:ext cx="38862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3527" y="2807208"/>
            <a:ext cx="3666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5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7" y="3273552"/>
            <a:ext cx="3666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vorab gesetztes Kriterium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977639"/>
            <a:ext cx="38862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7" y="4087368"/>
            <a:ext cx="3666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2–3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7" y="4553712"/>
            <a:ext cx="3666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nächtliche Unterkühlung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303520"/>
            <a:ext cx="4160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Die finale Dokumentation bewertet die quantitative Validierung als nicht bestanden. Hauptproblem: die Eingangs-Wetterdaten des Referenzpapers sind nicht veröffentlicht und mussten konstruiert werden.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Anwendungsfall: Messdaten der GeoSphere Austria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rial"/>
              </a:defRPr>
            </a:pPr>
            <a:r>
              <a:t>Station Wien/Hohe Warte · 24.06.2019 – 01.07.2019 · 10-Minuten-Daten</a:t>
            </a:r>
          </a:p>
        </p:txBody>
      </p:sp>
      <p:pic>
        <p:nvPicPr>
          <p:cNvPr id="4" name="Picture 3" descr="usecase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2084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417320"/>
            <a:ext cx="36576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53527" y="1527048"/>
            <a:ext cx="34381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3527" y="199339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Messwerte je Parameter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697480"/>
            <a:ext cx="36576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7" y="2807208"/>
            <a:ext cx="34381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1,634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7" y="327355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Modulfläche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977639"/>
            <a:ext cx="365760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7" y="4087368"/>
            <a:ext cx="34381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14,29 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7" y="455371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grobe Referenz für Wochen-Ertrag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39496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Arial"/>
              </a:defRPr>
            </a:pPr>
            <a:r>
              <a:t>Eingänge: Globalstrahlung G, Lufttemperatur Tₐₘᵦ, Windgeschwindigkeit 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7" name="Picture 16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Energiebilanz: Wo geht die Energie hin?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1919"/>
                </a:solidFill>
                <a:latin typeface="Arial"/>
              </a:defRPr>
            </a:pPr>
            <a:r>
              <a:t>elektrisch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1527048"/>
            <a:ext cx="6400800" cy="347472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1527048"/>
            <a:ext cx="1549633" cy="347472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49047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0070A6"/>
                </a:solidFill>
                <a:latin typeface="Arial"/>
              </a:defRPr>
            </a:pPr>
            <a:r>
              <a:t>9.73 kWh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1919"/>
                </a:solidFill>
                <a:latin typeface="Arial"/>
              </a:defRPr>
            </a:pPr>
            <a:r>
              <a:t>Konvektion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761488"/>
            <a:ext cx="6400800" cy="347472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2761488"/>
            <a:ext cx="6400800" cy="347472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272491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0070A6"/>
                </a:solidFill>
                <a:latin typeface="Arial"/>
              </a:defRPr>
            </a:pPr>
            <a:r>
              <a:t>40.19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1919"/>
                </a:solidFill>
                <a:latin typeface="Arial"/>
              </a:defRPr>
            </a:pPr>
            <a:r>
              <a:t>Strahlung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995927"/>
            <a:ext cx="6400800" cy="347472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3995927"/>
            <a:ext cx="5053430" cy="347472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95935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0070A6"/>
                </a:solidFill>
                <a:latin typeface="Arial"/>
              </a:defRPr>
            </a:pPr>
            <a:r>
              <a:t>31.73 kWh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143000"/>
            <a:ext cx="196596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1252728"/>
            <a:ext cx="17465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49 %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719072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dominanter Verlustpfad: Konvektion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788920"/>
            <a:ext cx="196596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2898648"/>
            <a:ext cx="17465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6,1 %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3364991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geschätzter Überhitzungsverlust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8092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464"/>
                </a:solidFill>
                <a:latin typeface="Arial"/>
              </a:defRPr>
            </a:pPr>
            <a:r>
              <a:t>Über die Woche: 81,64 kWh absorbiert → 9,73 kWh elektrisch + 40,19 kWh konvektiv + 31,73 kWh abgestrahlt.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Sensitivitätsanalyse: Welche Parameter zählen?</a:t>
            </a:r>
          </a:p>
        </p:txBody>
      </p:sp>
      <p:pic>
        <p:nvPicPr>
          <p:cNvPr id="3" name="Picture 2" descr="sensitivity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32120" cy="3246120"/>
          </a:xfrm>
          <a:prstGeom prst="rect">
            <a:avLst/>
          </a:prstGeom>
        </p:spPr>
      </p:pic>
      <p:pic>
        <p:nvPicPr>
          <p:cNvPr id="4" name="Picture 3" descr="sensitivity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53212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0A6"/>
                </a:solidFill>
                <a:latin typeface="Arial"/>
              </a:defRPr>
            </a:pPr>
            <a:r>
              <a:t>Maximale Modultemperatur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26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0A6"/>
                </a:solidFill>
                <a:latin typeface="Arial"/>
              </a:defRPr>
            </a:pPr>
            <a:r>
              <a:t>Energieertrag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83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t>■  ha: ca. 2,8 % Einfluss auf Tₘ,max</a:t>
            </a:r>
          </a:p>
          <a:p>
            <a:pPr>
              <a:spcAft>
                <a:spcPts val="1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t>■  Aconv: ca. 2,5 %</a:t>
            </a:r>
          </a:p>
          <a:p>
            <a:pPr>
              <a:spcAft>
                <a:spcPts val="1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t>■  hb: ca. 2,0 %</a:t>
            </a:r>
          </a:p>
          <a:p>
            <a:pPr>
              <a:spcAft>
                <a:spcPts val="1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t>■  Energie: hb/ha, βref und Aconv besonders relevant</a:t>
            </a:r>
          </a:p>
          <a:p>
            <a:pPr>
              <a:spcAft>
                <a:spcPts val="1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t>■  Cₘ: nur ca. 0,75 % auf Temperatur und 0,1 % auf Energie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Simulink: unabhängige Umsetzung + Batterieladung</a:t>
            </a:r>
          </a:p>
        </p:txBody>
      </p:sp>
      <p:pic>
        <p:nvPicPr>
          <p:cNvPr id="3" name="Picture 2" descr="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98932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1228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919"/>
                </a:solidFill>
                <a:latin typeface="Arial"/>
              </a:defRPr>
            </a:pPr>
            <a:r>
              <a:t>Batteriemodell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16916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■  reiner Energiespeicher mit Zustand SoC</a:t>
            </a:r>
          </a:p>
          <a:p>
            <a:pPr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■  E_Nenn = 7 kWh</a:t>
            </a:r>
          </a:p>
          <a:p>
            <a:pPr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■  η_lade = 0,90</a:t>
            </a:r>
          </a:p>
          <a:p>
            <a:pPr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■  SoC₀ = 0,20</a:t>
            </a:r>
          </a:p>
          <a:p>
            <a:pPr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■  Ladeschluss bei SoC = 1 als Zustandsereignis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3977639"/>
            <a:ext cx="443484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22008" y="4087368"/>
            <a:ext cx="421538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2,27·10⁻⁵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8" y="4553712"/>
            <a:ext cx="4215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Tm-Differenz im stationären Referenzfall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2578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  <a:latin typeface="Arial"/>
              </a:defRPr>
            </a:pPr>
            <a:r>
              <a:t>Über reale Wetterdaten: MATLAB und Simulink liefern deckungsgleiche Temperaturkurven; maximale Abweichung ≈ 0,3 % des Temperaturbandes.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Modellgrenzen: Was können wir nicht behaupten?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Quantitative Validierung ist wegen konstruierter Wetter-Eingänge nicht belastbar.</a:t>
            </a:r>
          </a:p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Nur ein Temperaturknoten: keine lokalen Überhitzungen und keine Vorder-/Rückseitendifferenz.</a:t>
            </a:r>
          </a:p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Konvektion stark vereinfacht – obwohl sie der dominante Verlustpfad ist.</a:t>
            </a:r>
          </a:p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Konstantes (τα): Einfallswinkel und Morgen-/Abend-Effekte fehlen.</a:t>
            </a:r>
          </a:p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Kein vollständiges elektrisches Modell: keine Strom-/Spannungskennlinie oder Wechselrichterauslegung.</a:t>
            </a:r>
          </a:p>
          <a:p>
            <a:pPr>
              <a:spcAft>
                <a:spcPts val="7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■  Batteriemodell ist nur eine Energiebilanz; keine Innenwiderstände, Klemmenspannung oder Alterung.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235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70A6"/>
                </a:solidFill>
                <a:latin typeface="Arial"/>
              </a:defRPr>
            </a:pPr>
            <a:r>
              <a:t>Sinnvolle nächste Schritte: offene Validierungsdaten · vollständiger Nusselt-Konvektionsansatz · Jahresmodell mit Modulebene und Einfallswinkel.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Fazit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24028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20208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1051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Zustand: Tₘ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234440"/>
            <a:ext cx="224028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1344168"/>
            <a:ext cx="20208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≈ 200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81051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thermische Zeitkonstante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234440"/>
            <a:ext cx="224028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8968" y="1344168"/>
            <a:ext cx="20208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49 %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181051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Konvektion als Verlustpfad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234440"/>
            <a:ext cx="224028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1344168"/>
            <a:ext cx="20208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70A6"/>
                </a:solidFill>
                <a:latin typeface="Arial"/>
              </a:defRPr>
            </a:pPr>
            <a:r>
              <a:t>0,3 %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81051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max. MATLAB/Simulink-Differenz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10789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Das Whitebox-Modell bildet die thermischen Mechanismen transparent ab.</a:t>
            </a:r>
          </a:p>
          <a:p>
            <a:pPr>
              <a:spcAft>
                <a:spcPts val="6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Numerisch ist die Umsetzung stabil und energetisch konsistent.</a:t>
            </a:r>
          </a:p>
          <a:p>
            <a:pPr>
              <a:spcAft>
                <a:spcPts val="6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Der GeoSphere-Anwendungsfall zeigt plausible Temperatur- und Energieverläufe.</a:t>
            </a:r>
          </a:p>
          <a:p>
            <a:pPr>
              <a:spcAft>
                <a:spcPts val="6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Die Sensitivität wird vor allem durch die Konvektionsparameter bestimmt.</a:t>
            </a:r>
          </a:p>
          <a:p>
            <a:pPr>
              <a:spcAft>
                <a:spcPts val="6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■  Das Modell ist qualitativ belastbar, aber quantitativ noch nicht ausreichend validiert.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0A6"/>
                </a:solidFill>
                <a:latin typeface="Arial"/>
              </a:defRPr>
            </a:pPr>
            <a:r>
              <a:t>→ Wichtigster Hebel für eine Weiterentwicklung: bessere Konvektionsmodellierung + offene Messdaten.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" y="34747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0A6"/>
                </a:solidFill>
                <a:latin typeface="Arial"/>
              </a:defRPr>
            </a:pPr>
            <a:r>
              <a:t>Fragen?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0070A6"/>
                </a:solidFill>
                <a:latin typeface="Arial"/>
              </a:defRPr>
            </a:pPr>
            <a:r>
              <a:t>Vielen Dank.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191919"/>
                </a:solidFill>
                <a:latin typeface="Arial"/>
              </a:defRPr>
            </a:pPr>
            <a:r>
              <a:t>Modellierung und Simulation eines Photovoltaikmoduls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156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Arial"/>
              </a:defRPr>
            </a:pPr>
            <a:r>
              <a:t>Gruppe 40 · Kontinuierliche Simulation VU 325.118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91999" cy="475488"/>
          </a:xfrm>
          <a:prstGeom prst="rect">
            <a:avLst/>
          </a:prstGeom>
          <a:solidFill>
            <a:srgbClr val="00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6437376"/>
            <a:ext cx="749808" cy="365760"/>
          </a:xfrm>
          <a:prstGeom prst="rect">
            <a:avLst/>
          </a:prstGeom>
        </p:spPr>
      </p:pic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446520"/>
            <a:ext cx="356616" cy="356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